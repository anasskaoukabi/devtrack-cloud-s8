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840480" cy="6793992"/>
          </a:xfrm>
          <a:prstGeom prst="rect">
            <a:avLst/>
          </a:prstGeom>
          <a:ln w="12700">
            <a:solidFill>
              <a:srgbClr val="4338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005840"/>
            <a:ext cx="137160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005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📋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82880" y="26517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DevTrack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288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2377440" cy="0"/>
          </a:xfrm>
          <a:prstGeom prst="line">
            <a:avLst/>
          </a:prstGeom>
          <a:noFill/>
          <a:ln w="1016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3840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gestion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Agile / Scrum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822960"/>
            <a:ext cx="70408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05156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complète pour piloter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vie du logiciel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06240" y="224028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DevTrack centralise la gestion des projets, sprints, tâches, bugs, tests et la collaboration d'équipe au sein d'une seule plateforme web sécurisée et moderne.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0" y="3200400"/>
            <a:ext cx="1129284" cy="246888"/>
          </a:xfrm>
          <a:prstGeom prst="roundRect">
            <a:avLst>
              <a:gd name="adj" fmla="val 3703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3200400"/>
            <a:ext cx="11292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React 18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42839" y="3200400"/>
            <a:ext cx="1051560" cy="246888"/>
          </a:xfrm>
          <a:prstGeom prst="roundRect">
            <a:avLst>
              <a:gd name="adj" fmla="val 3703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2839" y="3200400"/>
            <a:ext cx="1051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Node.js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3543" y="3200400"/>
            <a:ext cx="1051560" cy="246888"/>
          </a:xfrm>
          <a:prstGeom prst="roundRect">
            <a:avLst>
              <a:gd name="adj" fmla="val 3703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3543" y="3200400"/>
            <a:ext cx="1051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MongoDB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64247" y="3200400"/>
            <a:ext cx="1207008" cy="246888"/>
          </a:xfrm>
          <a:prstGeom prst="roundRect">
            <a:avLst>
              <a:gd name="adj" fmla="val 3703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4247" y="3200400"/>
            <a:ext cx="12070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Socket.io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676742" y="3200400"/>
            <a:ext cx="1129284" cy="246888"/>
          </a:xfrm>
          <a:prstGeom prst="roundRect">
            <a:avLst>
              <a:gd name="adj" fmla="val 3703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76742" y="3200400"/>
            <a:ext cx="11292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JWT Auth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813341" y="3200400"/>
            <a:ext cx="1129284" cy="246888"/>
          </a:xfrm>
          <a:prstGeom prst="roundRect">
            <a:avLst>
              <a:gd name="adj" fmla="val 37037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13341" y="3200400"/>
            <a:ext cx="11292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Recharts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06240" y="5852160"/>
            <a:ext cx="70408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5989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2024 – 2025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0" y="5989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5212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10  •  Problématique et vision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112471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11247120" cy="777240"/>
          </a:xfrm>
          <a:prstGeom prst="roundRect">
            <a:avLst>
              <a:gd name="adj" fmla="val 14118"/>
            </a:avLst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058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l'intégralité du cycle de développement logiciel en une plateforme Agile unifiée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08483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Agile / Scrum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des sprints, du backlog et des story points de manière native, avec estimation collaborative (Planning Poker)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192024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37960" y="208483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d'équipe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37960" y="237744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structurées, commentaires avec @mentions, notifications en temps réel via WebSockets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400507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Tests intégrés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51560" y="429768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de test, code review, métriques de complexité et suivi exhaustif des bugs par sévérité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52160" y="384048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893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37960" y="400507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Analytiques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429768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bord, exports CSV/PDF, diagrammes de Gantt et vue portfolio multi-projets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5212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10  •  Architecture 3-tiers découplée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112471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97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⚛️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2834640" cy="0"/>
          </a:xfrm>
          <a:prstGeom prst="line">
            <a:avLst/>
          </a:prstGeom>
          <a:noFill/>
          <a:ln w="889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40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avec 25+ pages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3000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86200" y="1965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⇆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60520" y="10058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60520" y="1097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16052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60520" y="19019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+ Socket.io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2148840"/>
            <a:ext cx="2834640" cy="0"/>
          </a:xfrm>
          <a:prstGeom prst="line">
            <a:avLst/>
          </a:prstGeom>
          <a:noFill/>
          <a:ln w="889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240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routes REST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3001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680960" y="1965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⇆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55280" y="10058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55280" y="1097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🍃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95528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0" y="19019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21040" y="2148840"/>
            <a:ext cx="2834640" cy="0"/>
          </a:xfrm>
          <a:prstGeom prst="line">
            <a:avLst/>
          </a:prstGeom>
          <a:noFill/>
          <a:ln w="889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240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modèles de données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avancée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référencées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DF4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39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Sécurité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4005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• bcryptjs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4434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 (6 rôles)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" y="48646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" y="52943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60520" y="352044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3639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Temps réel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389120" y="4005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 WebSockets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89120" y="4434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Notifications live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89120" y="48646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Planning Poker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389120" y="52943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Rooms par projet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55280" y="352044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3639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Exports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183880" y="4005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(PDFKit / pdfmake)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83880" y="4434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(csv-stringify)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83880" y="48646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Uploads (Multer)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183880" y="52943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Webhooks externes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5212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10  •  Interface utilisateur moderne et réactive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112471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1155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105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fonctionnels, Context API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gestion d'état globale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69080" y="10058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11155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06240" y="1554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18105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06240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Module Replacement, proxy API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le backend Express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100584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11155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09560" y="1554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18105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909560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utility-first,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responsive et cohérente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355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2920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+ ReactFlow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0507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" y="4251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interactifs (burndown,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vélocité), diagrammes de flux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69080" y="32461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69080" y="3355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206240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FullCalendar 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0" y="40507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06240" y="4251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calendrier pour réunions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jalons de projet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72400" y="32461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0" y="3355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909560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TipTap 3 + @dnd-kit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09560" y="40507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/ DND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909560" y="4251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riche collaboratif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Drag &amp; Drop Kanban natif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539496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44068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Également : React Router DOM 6  •  Axios  •  Socket.io-client  •  react-hot-toast  •  25+ pages  •  Composant &lt;Can&gt; (RBAC)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Backend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5212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10  •  API REST robuste et sécurisée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112471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PRINCIPALES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243584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4.18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426464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fichiers de routes REST, middleware RBAC centralisé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636776"/>
            <a:ext cx="5303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84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1993392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176272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schémas de données, indexes composés, populate()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386584"/>
            <a:ext cx="5303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34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bcryptjs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2926080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stateless 24h, hachage sécurisé des mots de passe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136392"/>
            <a:ext cx="5303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83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3493008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4.8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675888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: notifications live, rooms projet &amp; poker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5303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33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4242816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PDFKit + pdfmake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425696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documents PDF avec templates métier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636008"/>
            <a:ext cx="5303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83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7240" y="4992624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175504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req/min (auth), 200 req/min (API générale)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5385816"/>
            <a:ext cx="5303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9601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35040" y="123444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325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03504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API REST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686800" y="123444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1325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868680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Mongoose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35040" y="251460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2606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603504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utilisateurs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686800" y="251460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2606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868680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Générateurs de docs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37490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840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Middleware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72200" y="42062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RESTful — verbes HTTP standards (GET, POST, PUT, DELETE)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72200" y="45445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Middleware authenticateToken appliqué sur toutes les routes protégées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72200" y="488289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Audit Log automatique sur chaque opération CREATE / UPDATE / DELETE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72200" y="522122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CORS configuré, body-parser JSON, dotenv pour les variables d'env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72200" y="555955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Seeding réaliste via seed_all.js / seed_qa.js / seed_realistic.js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— Gestion de Projet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5212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10  •  Cycle de vie complet des tâches et sprints Agile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112471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24128" y="1115568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&amp; Sprints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24128" y="1389888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projets, planification de sprints, vélocité, story points et burndown chart automatique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00584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0528" y="1115568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&amp; Sous-tâches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10528" y="1389888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: BACKLOG → TODO → IN_PROGRESS → IN_REVIEW → TESTING → DONE avec historique de statuts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4128" y="2441448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Tracker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24128" y="2715768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niveaux de sévérité : CRITICAL, HIGH, MEDIUM, LOW avec date de résolution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233172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10528" y="2441448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10528" y="2715768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Glisser-déposer inter-colonnes avec @dnd-kit, vue visuelle par statut et priorité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24128" y="3767328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&amp; Calendrier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24128" y="4041648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de projet interactive, vue calendrier des réunions et deadlines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0" y="365760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1888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10528" y="3767328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10528" y="4041648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d'estimation collaboratives en temps réel via Socket.io, consensus automatique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98348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🏁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24128" y="5093208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24128" y="5367528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de projet avec livrables définis et suivi de progression par pourcentage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52160" y="498348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61888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510528" y="5093208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10528" y="5367528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risques, scoring probabilité × impact, niveaux CRITICAL/HIGH/MEDIUM/LOW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— Collaboration &amp; Qualité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5212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10  •  Travail d'équipe et assurance qualité intégrés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112471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COMMUNICATION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243584"/>
            <a:ext cx="4983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&amp; @Mentions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426464"/>
            <a:ext cx="4983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contextualisée par tâche, notification automatique des utilisateurs mentionnés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636776"/>
            <a:ext cx="5394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94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203704"/>
            <a:ext cx="4983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temps réel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86584"/>
            <a:ext cx="4983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live Socket.io : assignations, changements de statut, bugs critiques signalés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5394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54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163824"/>
            <a:ext cx="4983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structurées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346704"/>
            <a:ext cx="4983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Standup, Sprint Review, Rétrospective — ordre du jour, notes, actions items suivis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557016"/>
            <a:ext cx="5394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14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123944"/>
            <a:ext cx="4983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Tracking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306824"/>
            <a:ext cx="4983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Journaux d'heures par tâche et par développeur, suivi de charge de travail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4517136"/>
            <a:ext cx="5394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960120"/>
            <a:ext cx="0" cy="507492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96012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QUALITÉ (QA)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1792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9400" y="1243584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de test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1426464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manuels &amp; automatisés avec étapes, critères d'entrée/sortie, scope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1636776"/>
            <a:ext cx="5212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194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29400" y="2203704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test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2386584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d'exécution des tests, résultats par cycle, taux de réussite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2596896"/>
            <a:ext cx="5212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154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9400" y="3163824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29400" y="3346704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de révision personnalisables, scoring pass/fail par critère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3557016"/>
            <a:ext cx="5212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114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29400" y="4123944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de code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29400" y="4306824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cyclomatique, LOC, couverture de tests, indice de maintenabilité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4517136"/>
            <a:ext cx="5212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5212080"/>
            <a:ext cx="11247120" cy="658368"/>
          </a:xfrm>
          <a:prstGeom prst="roundRect">
            <a:avLst>
              <a:gd name="adj" fmla="val 13889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5285232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Audit Log complet  •  Traçabilité de toutes les actions (CREATE / UPDATE / DELETE) avec utilisateur, horodatage et détail des changements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Documentation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5212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10  •  Visualisation des données et génération de documents métier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112471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&amp; VUES ANALYTIQUES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234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Projet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90195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tâches, statut des bugs, burndown chart, charge développeurs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60520" y="11887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1234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97680" y="1627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Portfolio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190195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multi-projets, comparaison de métriques, allocation des ressources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55280" y="11887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0" y="1234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92440" y="1627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Qualité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92440" y="190195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de code par module, seuils configurables, suivi de la dette technique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DOCUMENTS GÉNÉRÉS (PDF)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3090672"/>
            <a:ext cx="1906524" cy="246888"/>
          </a:xfrm>
          <a:prstGeom prst="roundRect">
            <a:avLst>
              <a:gd name="adj" fmla="val 3703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90672"/>
            <a:ext cx="19065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Cahier des charges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75942" y="3090672"/>
            <a:ext cx="1673352" cy="246888"/>
          </a:xfrm>
          <a:prstGeom prst="roundRect">
            <a:avLst>
              <a:gd name="adj" fmla="val 3703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75942" y="3090672"/>
            <a:ext cx="1673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Fiche technique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969410" y="3090672"/>
            <a:ext cx="1984248" cy="246888"/>
          </a:xfrm>
          <a:prstGeom prst="roundRect">
            <a:avLst>
              <a:gd name="adj" fmla="val 3703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69410" y="3090672"/>
            <a:ext cx="19842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Fiche fonctionnelle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51830" y="3090672"/>
            <a:ext cx="1440180" cy="246888"/>
          </a:xfrm>
          <a:prstGeom prst="roundRect">
            <a:avLst>
              <a:gd name="adj" fmla="val 3703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51830" y="3090672"/>
            <a:ext cx="14401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PV de Sprint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493008"/>
            <a:ext cx="1673352" cy="246888"/>
          </a:xfrm>
          <a:prstGeom prst="roundRect">
            <a:avLst>
              <a:gd name="adj" fmla="val 3703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493008"/>
            <a:ext cx="1673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Rapport de bugs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59229" y="3493008"/>
            <a:ext cx="1751076" cy="246888"/>
          </a:xfrm>
          <a:prstGeom prst="roundRect">
            <a:avLst>
              <a:gd name="adj" fmla="val 3703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59229" y="3493008"/>
            <a:ext cx="17510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Rapport de temps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24935" y="3493008"/>
            <a:ext cx="1517904" cy="246888"/>
          </a:xfrm>
          <a:prstGeom prst="roundRect">
            <a:avLst>
              <a:gd name="adj" fmla="val 3703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4935" y="3493008"/>
            <a:ext cx="15179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Release Notes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73929" y="3493008"/>
            <a:ext cx="1673352" cy="246888"/>
          </a:xfrm>
          <a:prstGeom prst="roundRect">
            <a:avLst>
              <a:gd name="adj" fmla="val 37037"/>
            </a:avLst>
          </a:prstGeom>
          <a:solidFill>
            <a:srgbClr val="FDF4FF"/>
          </a:solidFill>
          <a:ln w="12700">
            <a:solidFill>
              <a:srgbClr val="FDF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3929" y="3493008"/>
            <a:ext cx="1673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Document custom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397764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&amp; INTÉGRATIONS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5760" y="4206240"/>
            <a:ext cx="2651760" cy="1810512"/>
          </a:xfrm>
          <a:prstGeom prst="roundRect">
            <a:avLst>
              <a:gd name="adj" fmla="val 6061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279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Exports CSV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Tâches (filtres, colonnes)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50109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Bugs (par sévérité)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4041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logs (par dev / période)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0" y="4206240"/>
            <a:ext cx="2651760" cy="1810512"/>
          </a:xfrm>
          <a:prstGeom prst="roundRect">
            <a:avLst>
              <a:gd name="adj" fmla="val 606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0128" y="4279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Exports PDF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3756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Documents générés (templates)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37560" y="50109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Rapports complets de projet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37560" y="54041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Notes de réunions formatées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35040" y="4206240"/>
            <a:ext cx="2651760" cy="1810512"/>
          </a:xfrm>
          <a:prstGeom prst="roundRect">
            <a:avLst>
              <a:gd name="adj" fmla="val 6061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44768" y="4279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Intégrations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7220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Webhooks vers systèmes externes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72200" y="50109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Recherche full-text globale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72200" y="54041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de fichiers (Multer)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869680" y="4206240"/>
            <a:ext cx="2651760" cy="1810512"/>
          </a:xfrm>
          <a:prstGeom prst="roundRect">
            <a:avLst>
              <a:gd name="adj" fmla="val 6061"/>
            </a:avLst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79408" y="4279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Vues temporelles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00684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Diagramme de Gantt interactif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006840" y="50109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Calendrier (FullCalendar)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006840" y="54041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Historique des statuts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Gestion des Rôles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5212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10  •  Contrôle d'accès basé sur les rôles (RBAC)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112471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DES RÔLES UTILISATEURS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298448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2984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74520" y="13167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total — gestion des utilisateurs et toutes les entités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1380744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38528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048256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0482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74520" y="20665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projets, gestion du backlog, validation des sprints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2130552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88336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798064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79806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74520" y="28163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sprints, communication d'équipe, métriques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28803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438144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3547872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5478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74520" y="3566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sur les tâches, commentaires, time logs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3630168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87952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42976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2976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874520" y="43159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de test, exécution, rapport de bugs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4379976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93776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5047488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50474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874520" y="50657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— consultation des projets et avancements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5129784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960120"/>
            <a:ext cx="0" cy="507492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96012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MÉCANISMES DE SÉCURITÉ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17920" y="1188720"/>
            <a:ext cx="5212080" cy="804672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748272" y="1252728"/>
            <a:ext cx="4462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JSON Web Token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48272" y="1481328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stateless, expiration 24h, secret configurable via .env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2093976"/>
            <a:ext cx="5212080" cy="804672"/>
          </a:xfrm>
          <a:prstGeom prst="roundRect">
            <a:avLst>
              <a:gd name="adj" fmla="val 13636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2139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748272" y="2157984"/>
            <a:ext cx="4462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— Hachage des mots de passe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48272" y="2386584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mot de passe en clair en base de données, salt automatique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7920" y="2999232"/>
            <a:ext cx="5212080" cy="804672"/>
          </a:xfrm>
          <a:prstGeom prst="roundRect">
            <a:avLst>
              <a:gd name="adj" fmla="val 13636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3044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748272" y="3063240"/>
            <a:ext cx="4462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48272" y="3291840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req/min sur /auth  •  200 req/min sur l'API générale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3904488"/>
            <a:ext cx="5212080" cy="804672"/>
          </a:xfrm>
          <a:prstGeom prst="roundRect">
            <a:avLst>
              <a:gd name="adj" fmla="val 13636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1072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748272" y="3968496"/>
            <a:ext cx="4462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Middleware RBAC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48272" y="4197096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origines autorisées, middleware d'autorisation centralisé (authorize.js)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4809744"/>
            <a:ext cx="5212080" cy="804672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4855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748272" y="4873752"/>
            <a:ext cx="4462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complet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748272" y="5102352"/>
            <a:ext cx="4462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exhaustive — chaque action est enregistrée avec utilisateur et timestamp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2192000" cy="1417320"/>
          </a:xfrm>
          <a:prstGeom prst="roundRect">
            <a:avLst/>
          </a:prstGeom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Bilan &amp; Réalisations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10  •  Un projet complet, de bout en bout, prêt pour la production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029968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8308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15184" y="1691640"/>
            <a:ext cx="2029968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5184" y="178308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15184" y="228600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API REST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64608" y="1691640"/>
            <a:ext cx="2029968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78308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64608" y="228600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de données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14032" y="1691640"/>
            <a:ext cx="2029968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78308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114032" y="228600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RBAC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363456" y="1691640"/>
            <a:ext cx="2029968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63456" y="178308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363456" y="228600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documents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52928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&amp; Performance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675888"/>
            <a:ext cx="32918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67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WebSockets Socket.io pour collaboration instantanée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242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Rooms par projet : notifications ciblées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7183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Planning Poker collaboratif synchronisé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51937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Proxy Vite pour un développement fluide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2852928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60520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297680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natif de bout en bout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0" y="3675888"/>
            <a:ext cx="32918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3767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Sprints, backlog et vélocité intégrés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43400" y="4242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Kanban, Gantt et calendrier unifiés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43400" y="47183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Estimation collaborative (Planning Poker)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43400" y="51937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Métriques de qualité et code review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55280" y="2852928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955280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092440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Maintenabilité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92440" y="3675888"/>
            <a:ext cx="32918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3767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Authentification JWT + hachage bcryptjs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38160" y="4242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 sur 6 niveaux hiérarchiques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38160" y="47183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limiting et audit log complet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38160" y="51937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3-tiers claire et évolutive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6108192"/>
            <a:ext cx="11247120" cy="502920"/>
          </a:xfrm>
          <a:prstGeom prst="roundRect">
            <a:avLst>
              <a:gd name="adj" fmla="val 18182"/>
            </a:avLst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1447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 —  DevTrack v2.0  |  Full-Stack Agile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2026-05-10T21:26:55Z</dcterms:created>
  <dcterms:modified xsi:type="dcterms:W3CDTF">2026-05-10T21:26:55Z</dcterms:modified>
</cp:coreProperties>
</file>